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Apple is a different story from peers. Frame it: revenue growth is the slowest of the four mega-caps, but margin expansion + capital return is sustaining the equity story.</a:t>
            </a:r>
          </a:p>
          <a:p/>
          <a:p>
            <a:r>
              <a:t>The deck answers: is the Services + AI engine large enough to offset hardware deceleration and China weakness?</a:t>
            </a:r>
          </a:p>
          <a:p/>
          <a:p>
            <a:r>
              <a:t>Tone: measured. Don't oversell. Don't undersell. Apple is the most premium, lowest-volatility name in this peer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numbers: revenue $416B (+6%), op margin 32% — yes, this is normal for Apple.</a:t>
            </a:r>
          </a:p>
          <a:p/>
          <a:p>
            <a:r>
              <a:t>Net margin expansion 290 bps is meaningful — that's the buyback compounding showing up in per-share economics.</a:t>
            </a:r>
          </a:p>
          <a:p/>
          <a:p>
            <a:r>
              <a:t>Closing: 'The income statement is fine. The narrative complexity is in the geographic mix and the cash-deployment choices.'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China is the slide. Don't bury it. Two consecutive years of decline matter.</a:t>
            </a:r>
          </a:p>
          <a:p/>
          <a:p>
            <a:r>
              <a:t>Counter-balance is Services + Japan + RoAP — but Services data isn't broken out the way investors want.</a:t>
            </a:r>
          </a:p>
          <a:p/>
          <a:p>
            <a:r>
              <a:t>Land: 'Apple is becoming an America + Services story. That's defensible — but it's a different equity than the global hardware franchise of 2018.'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Apple's story diverges from peers. The 'issue' isn't capex — it's capital flexibility narrowing as buybacks consume nearly all FCF.</a:t>
            </a:r>
          </a:p>
          <a:p/>
          <a:p>
            <a:r>
              <a:t>Note: $106B returned vs. $98.8B FCF — net cash is being drawn down to fund the program.</a:t>
            </a:r>
          </a:p>
          <a:p/>
          <a:p>
            <a:r>
              <a:t>Don't moralize. State it: this is a CHOICE the company is making. Investors should be aware of the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scenarios, similar to how we frame other names — but the decisive variable is Services growth + China.</a:t>
            </a:r>
          </a:p>
          <a:p/>
          <a:p>
            <a:r>
              <a:t>Base case is most likely. Bear case is real and more probable than for Microsoft or Meta.</a:t>
            </a:r>
          </a:p>
          <a:p/>
          <a:p>
            <a:r>
              <a:t>Land on the critical variable: AI feature monetization. Apple Intelligence will need to be a real revenue line by FY27.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 recommendation. Premium holding — but not a high-conviction add at current multiple.</a:t>
            </a:r>
          </a:p>
          <a:p/>
          <a:p>
            <a:r>
              <a:t>Watch list: Services growth, China revenue, AI adoption commentary. These three will move the multiple.</a:t>
            </a:r>
          </a:p>
          <a:p/>
          <a:p>
            <a:r>
              <a:t>Closing: 'Apple is the lowest-beta name in the group. Hold for quality; don't expect the +30% upside that Microsoft or Meta could deliver.'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page. Use for Q&amp;A.</a:t>
            </a:r>
          </a:p>
          <a:p/>
          <a:p>
            <a:r>
              <a:t>If asked one number: net margin expansion 290 bps. That's the buyback math.</a:t>
            </a:r>
          </a:p>
          <a:p/>
          <a:p>
            <a:r>
              <a:t>Service revenue growth will dominate any deeper question — have the Q4 print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54864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EXECUTIVE STORYLINE  ·  FY2024 10-K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0B2540"/>
                </a:solidFill>
                <a:latin typeface="Calibri"/>
              </a:rPr>
              <a:t>Apple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A1A1A"/>
                </a:solidFill>
                <a:latin typeface="Calibri"/>
              </a:rPr>
              <a:t>AAPL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1">
                <a:solidFill>
                  <a:srgbClr val="1A1F2E"/>
                </a:solidFill>
                <a:latin typeface="Calibri"/>
              </a:rPr>
              <a:t>Topline growth has slowed to mid-single digits — premium margins and capital return remain the equity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B6472"/>
                </a:solidFill>
                <a:latin typeface="Calibri"/>
              </a:rPr>
              <a:t>A five-act readout for the leadership team.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1264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Prepared for the executive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6364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 · WHAT'S HAPPENING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Apple posted +6.4% revenue growth — modest top-line, but margins are the highest in five years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544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0B2540"/>
                </a:solidFill>
                <a:latin typeface="Calibri"/>
              </a:rPr>
              <a:t>$416.2B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+6.4% YoY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5544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OPERATING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013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0B2540"/>
                </a:solidFill>
                <a:latin typeface="Calibri"/>
              </a:rPr>
              <a:t>32.0%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+50 bps YoY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5544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NET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8013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0B2540"/>
                </a:solidFill>
                <a:latin typeface="Calibri"/>
              </a:rPr>
              <a:t>26.9%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+290 bps YoY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74320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pple_revenue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926080"/>
            <a:ext cx="5760720" cy="29757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0" y="2834640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B6472"/>
                </a:solidFill>
                <a:latin typeface="Calibri"/>
              </a:rPr>
              <a:t>REVENUE &amp; OPERATING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WHAT THE NUMBERS TELL 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19272"/>
            <a:ext cx="36576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246120"/>
            <a:ext cx="532180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Calibri"/>
              </a:rPr>
              <a:t>STABILIZING  </a:t>
            </a:r>
            <a:r>
              <a:rPr sz="1200">
                <a:solidFill>
                  <a:srgbClr val="1A1F2E"/>
                </a:solidFill>
                <a:latin typeface="Calibri"/>
              </a:rPr>
              <a:t>Revenue back in growth after a flat FY24, but pace is roughly half of Microsoft and a third of Meta.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87952"/>
            <a:ext cx="36576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114800"/>
            <a:ext cx="532180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Calibri"/>
              </a:rPr>
              <a:t>MARGIN  </a:t>
            </a:r>
            <a:r>
              <a:rPr sz="1200">
                <a:solidFill>
                  <a:srgbClr val="1A1F2E"/>
                </a:solidFill>
                <a:latin typeface="Calibri"/>
              </a:rPr>
              <a:t>Gross margin near 47% — highest level since FY21 — driven by Services mix shift.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56632"/>
            <a:ext cx="36576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983480"/>
            <a:ext cx="532180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Calibri"/>
              </a:rPr>
              <a:t>QUALITY  </a:t>
            </a:r>
            <a:r>
              <a:rPr sz="1200">
                <a:solidFill>
                  <a:srgbClr val="1A1F2E"/>
                </a:solidFill>
                <a:latin typeface="Calibri"/>
              </a:rPr>
              <a:t>Net income $112B (+19%); $90.7B returned via buybacks. EPS leverage from share count alone is meaningful.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Apple Inc. 10-K, FY2024  ·  Equity research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II · WHAT'S DRIVING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Greater China (–4%) is the single largest drag — but Services growth and margin expansion offset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554480"/>
            <a:ext cx="5394960" cy="21031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392B"/>
                </a:solidFill>
                <a:latin typeface="Calibri"/>
              </a:rPr>
              <a:t>GREATER CHINA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200" b="1" i="0">
                <a:solidFill>
                  <a:srgbClr val="0B2540"/>
                </a:solidFill>
                <a:latin typeface="Calibri"/>
              </a:rPr>
              <a:t>–4%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5B6472"/>
                </a:solidFill>
                <a:latin typeface="Calibri"/>
              </a:rPr>
              <a:t>vs –2% prior year — second straight year of decline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Now 15% of revenue, down from 19% three years ago</a:t>
            </a:r>
          </a:p>
        </p:txBody>
      </p:sp>
      <p:pic>
        <p:nvPicPr>
          <p:cNvPr id="10" name="Picture 9" descr="apple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5760720" cy="3688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1417320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B6472"/>
                </a:solidFill>
                <a:latin typeface="Calibri"/>
              </a:rPr>
              <a:t>SEGMENT REVENUE — YoY GROWTH AND CURRENT-YEAR 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96512"/>
            <a:ext cx="36576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023360"/>
            <a:ext cx="11082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Calibri"/>
              </a:rPr>
              <a:t>OFFSET  </a:t>
            </a:r>
            <a:r>
              <a:rPr sz="1200">
                <a:solidFill>
                  <a:srgbClr val="1A1F2E"/>
                </a:solidFill>
                <a:latin typeface="Calibri"/>
              </a:rPr>
              <a:t>Japan (+15%) and Rest of Asia Pacific (+10%) more than compensate for the China softness.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36592"/>
            <a:ext cx="36576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663440"/>
            <a:ext cx="11082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Calibri"/>
              </a:rPr>
              <a:t>MIX  </a:t>
            </a:r>
            <a:r>
              <a:rPr sz="1200">
                <a:solidFill>
                  <a:srgbClr val="1A1F2E"/>
                </a:solidFill>
                <a:latin typeface="Calibri"/>
              </a:rPr>
              <a:t>Americas now 43% of revenue — concentration in a single region is itself a strategic question.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76672"/>
            <a:ext cx="36576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303520"/>
            <a:ext cx="11082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Calibri"/>
              </a:rPr>
              <a:t>SERVICES  </a:t>
            </a:r>
            <a:r>
              <a:rPr sz="1200">
                <a:solidFill>
                  <a:srgbClr val="1A1F2E"/>
                </a:solidFill>
                <a:latin typeface="Calibri"/>
              </a:rPr>
              <a:t>Services revenue growing double-digits at ~74% gross margin is the underlying margin engine.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Apple Inc. 10-K, FY2024  ·  Equity research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III · WHAT'S THE 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Free cash flow declined 9% as buybacks consumed 92% of FCF — capital flexibility is narrowing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pple_cap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5760720" cy="3003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1417320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B6472"/>
                </a:solidFill>
                <a:latin typeface="Calibri"/>
              </a:rPr>
              <a:t>OPERATING CASH FLOW vs. CAPEX vs. FREE CASH FLOW ($B)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94960" cy="137160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4ADE80"/>
                </a:solidFill>
                <a:latin typeface="Calibri"/>
              </a:rPr>
              <a:t>FCF FY24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$98.8B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9339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C0392B"/>
                </a:solidFill>
                <a:latin typeface="Calibri"/>
              </a:rPr>
              <a:t>▼ –9.2% YoY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Buybacks $90.7B = 92% of FCF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WHY THE CASH STORY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071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337560"/>
            <a:ext cx="532180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C0392B"/>
                </a:solidFill>
                <a:latin typeface="Calibri"/>
              </a:rPr>
              <a:t>CONCENTRATION  </a:t>
            </a:r>
            <a:r>
              <a:rPr sz="1150">
                <a:solidFill>
                  <a:srgbClr val="1A1F2E"/>
                </a:solidFill>
                <a:latin typeface="Calibri"/>
              </a:rPr>
              <a:t>Buybacks ($90.7B) + dividends ($15.4B) = $106B returned, larger than this year's FCF of $98.8B.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2511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251960"/>
            <a:ext cx="532180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C0392B"/>
                </a:solidFill>
                <a:latin typeface="Calibri"/>
              </a:rPr>
              <a:t>FLEX  </a:t>
            </a:r>
            <a:r>
              <a:rPr sz="1150">
                <a:solidFill>
                  <a:srgbClr val="1A1F2E"/>
                </a:solidFill>
                <a:latin typeface="Calibri"/>
              </a:rPr>
              <a:t>Net cash position falling — limits room for a major acquisition or unforeseen capex pivot.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3951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166360"/>
            <a:ext cx="532180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C0392B"/>
                </a:solidFill>
                <a:latin typeface="Calibri"/>
              </a:rPr>
              <a:t>CHINA-RISK  </a:t>
            </a:r>
            <a:r>
              <a:rPr sz="1150">
                <a:solidFill>
                  <a:srgbClr val="1A1F2E"/>
                </a:solidFill>
                <a:latin typeface="Calibri"/>
              </a:rPr>
              <a:t>If Greater China declines another 5–10%, FCF compresses materially before buybacks can adjust.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Apple Inc. 10-K, FY2024  ·  Equity research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IV ·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Sustainability hinges on Services holding above 12% growth while China stabilizes by FY26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0876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TWO SCENARIOS — AND WHAT TIPS US INTO 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440680" cy="40233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440680" cy="548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440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BASE CASE  ·  SERVICES HOLDS, CHINA FLATTENS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5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REVENUE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5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Mid-to-high single-digit growth on Services + iPhone refresh + AI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899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59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Operating margin holds 32–33% on Services mix and supply-chain discipline.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3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MULTIPLE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3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Premium multiple defensible at 28–30× as buybacks compound EPS.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440680" cy="40233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74519"/>
            <a:ext cx="544068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5440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BEAR CASE  ·  SERVICES SLOWS, CHINA SOFTENS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5175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392B"/>
                </a:solidFill>
                <a:latin typeface="Calibri"/>
              </a:rPr>
              <a:t>REVENUE STALL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5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Revenue back below 5% if Services dips below 10% and China drops another 5%+.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2899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392B"/>
                </a:solidFill>
                <a:latin typeface="Calibri"/>
              </a:rPr>
              <a:t>MARGIN COMPRESSION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5759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Hardware deflation + ASP pressure could compress op margin toward 30%.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0623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392B"/>
                </a:solidFill>
                <a:latin typeface="Calibri"/>
              </a:rPr>
              <a:t>DE-RATING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43483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Multiple compression to 22–24× as the structural growth story weakens.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4ADE80"/>
                </a:solidFill>
                <a:latin typeface="Calibri"/>
              </a:rPr>
              <a:t>THE CRITICAL VARIABLE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989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Whether Services growth + AI-feature monetization can sustain double-digit pace by FY26.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Apple Inc. 10-K, FY2024  ·  Equity research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V ·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Track three metrics that will tell us — within 12 months — which scenario is unfolding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0876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THE THREE-METRIC EARLY-WARNING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777240" cy="13258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777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874519"/>
            <a:ext cx="10424160" cy="132588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01167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0"/>
                </a:solidFill>
                <a:latin typeface="Calibri"/>
              </a:rPr>
              <a:t>Services revenue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774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Watch for &gt;12% — anything below 10% would break the high-margin growth narrative.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3463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1A1A1A"/>
                </a:solidFill>
                <a:latin typeface="Calibri"/>
              </a:rPr>
              <a:t>QUARTERLY · SERVICES LINE ITEM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59"/>
            <a:ext cx="777240" cy="13258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37559"/>
            <a:ext cx="777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337559"/>
            <a:ext cx="10424160" cy="132588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4747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0"/>
                </a:solidFill>
                <a:latin typeface="Calibri"/>
              </a:rPr>
              <a:t>Greater China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4047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Stabilization or growth needed; another 5%+ decline would meaningfully compress estimates.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9767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1A1A1A"/>
                </a:solidFill>
                <a:latin typeface="Calibri"/>
              </a:rPr>
              <a:t>QUARTERLY · GEOGRAPHIC SEGMENT DISCLOSURE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00599"/>
            <a:ext cx="777240" cy="13258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00599"/>
            <a:ext cx="777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4800599"/>
            <a:ext cx="10424160" cy="132588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493775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0"/>
                </a:solidFill>
                <a:latin typeface="Calibri"/>
              </a:rPr>
              <a:t>Apple Intelligence adoption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30351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Look for explicit feature monetization commentary; Vision Pro learnings may apply.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76071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1A1A1A"/>
                </a:solidFill>
                <a:latin typeface="Calibri"/>
              </a:rPr>
              <a:t>QUARTERLY · EARNINGS CALL COMMENTARY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98932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Premium-quality holding; conviction depends on Services trajectory and China stabilization.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Apple Inc. 10-K, FY2024  ·  Equity research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Three-year P&amp;L, segment, and cash-flow reference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54480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INCOME STATEMENT  ·  $B EXCEPT 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828800"/>
            <a:ext cx="352044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0240" y="1920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920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94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$383.3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194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$391.0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94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$416.2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Gross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4688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$169.1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4688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$180.7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688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$195.2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Operating income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743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$114.3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743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$123.2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743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$133.1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17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Net income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017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$97.0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017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$93.7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017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$112.0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91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R&amp;D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291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$29.9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291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$31.4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291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$34.6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661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Gross margin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566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44.1%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3566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46.2%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566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46.9%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840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Operating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840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29.8%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3840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31.5%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840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32.0%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114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Net margin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114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25.3%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4114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24.0%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114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26.9%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155448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CASH FLOW  ·  $B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389120" y="1828800"/>
            <a:ext cx="34747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43600" y="19202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19202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19202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21945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Operating cash 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21945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$110.5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21945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$118.3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21945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$111.5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24688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Capex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2468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$11.0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2468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$9.4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2468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$12.7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2743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Free cash flow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27432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$99.6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27432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$108.8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27432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$98.8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30175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SBC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3017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$10.8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3017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$11.7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0" y="3017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$12.9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32918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D&amp;A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32918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$11.5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32918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$11.4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0" y="32918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$11.7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3566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Buybacks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0" y="35661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$77.6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35661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$94.9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0" y="35661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$90.7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0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Dividends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3840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$15.0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3840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$15.2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3760" y="3840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$15.4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4114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Capex/OCF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0" y="4114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10%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4114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8%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4114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11%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155448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GEOGRAPHIC SEGMENTS  ·  FY24 REVENUE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321040" y="1828800"/>
            <a:ext cx="34747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149840" y="1920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98480" y="1920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YoY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247120" y="1920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Mix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040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Americas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49840" y="2194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$178.4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98480" y="2194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+7%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47120" y="2194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43%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2104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Europe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4984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$111.0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9848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+10%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4712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27%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2104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Greater China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49840" y="27432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$64.4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98480" y="27432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–4%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247120" y="27432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15%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32461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CAPEX INTENSITY  ·  CAPEX/REVENUE %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8321040" y="3520440"/>
            <a:ext cx="34747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8" name="Picture 97" descr="apple_capex_int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611880"/>
            <a:ext cx="3474720" cy="1926620"/>
          </a:xfrm>
          <a:prstGeom prst="rect">
            <a:avLst/>
          </a:prstGeom>
        </p:spPr>
      </p:pic>
      <p:cxnSp>
        <p:nvCxnSpPr>
          <p:cNvPr id="99" name="Connector 98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Apple Inc. 10-K, FY2024  ·  Equity research view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