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headline tension in one breath: Microsoft is growing fast — and yet free cash flow is going down. That contradiction is the entire story.</a:t>
            </a:r>
          </a:p>
          <a:p/>
          <a:p>
            <a:r>
              <a:t>Frame the deck: I'll walk through the same five questions the board will ask — what's happening, what's driving it, what's the issue, why it matters, and what we should track.</a:t>
            </a:r>
          </a:p>
          <a:p/>
          <a:p>
            <a:r>
              <a:t>Tone: confident, measured. Don't apologize for the numbers — they're strong. Just be clear about the trade-off.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Anchor the audience in the growth story BEFORE we pivot to the issue. They need to feel the strength of the franchise first.</a:t>
            </a:r>
          </a:p>
          <a:p/>
          <a:p>
            <a:r>
              <a:t>Three stats matter: revenue $281.7B, op margin 45.6%, net margin 36%. Read them deliberately. Pause after each one.</a:t>
            </a:r>
          </a:p>
          <a:p/>
          <a:p>
            <a:r>
              <a:t>Closing line: 'On every traditional measure, this is one of the best years Microsoft has had. Hold that thought — because the next chart tells a different story.'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Pivot from 'what' to 'why.' The room needs to understand that this isn't generic growth — it's concentrated, and that concentration matters.</a:t>
            </a:r>
          </a:p>
          <a:p/>
          <a:p>
            <a:r>
              <a:t>The +34% Azure number is the single most important data point in the deck. Say it slowly. Compare it to AWS at ~20% and Google Cloud at ~30% to give context.</a:t>
            </a:r>
          </a:p>
          <a:p/>
          <a:p>
            <a:r>
              <a:t>Land the implication: 'When one segment grows this much faster than the rest, it changes the whole company's economics. That's the setup for the next slide.'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turning point of the deck. Slow down. The audience needs to feel the contrast between the prior two slides and this one.</a:t>
            </a:r>
          </a:p>
          <a:p/>
          <a:p>
            <a:r>
              <a:t>Lead with the contradiction: Revenue grew $36.6B. FCF went DOWN $2.5B. Where did the cash go? Capex jumped $20B in one year.</a:t>
            </a:r>
          </a:p>
          <a:p/>
          <a:p>
            <a:r>
              <a:t>Don't editorialize yet — let the numbers carry the weight. The investment thesis here isn't necessarily wrong, but the cash-flow profile of the company has fundamentally 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Don't moralize about whether the capex is 'right' or 'wrong.' Frame it as a fork in the road: there are two scenarios, and the next 18 months will tell us which one we're in.</a:t>
            </a:r>
          </a:p>
          <a:p/>
          <a:p>
            <a:r>
              <a:t>Use clean transition language: 'In the base case... in the bear case...' Avoid emotionally loaded words like 'risk' or 'danger' — keep it analytical.</a:t>
            </a:r>
          </a:p>
          <a:p/>
          <a:p>
            <a:r>
              <a:t>End the slide on the critical variable: AI monetization rate. That's the metric to track. Everything else is downstream of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Land the deck on a single, decisive recommendation. Don't hedge.</a:t>
            </a:r>
          </a:p>
          <a:p/>
          <a:p>
            <a:r>
              <a:t>Drive home the watch list: three metrics, one quarter at a time. Make it sound operational — these are things this team can actually monitor.</a:t>
            </a:r>
          </a:p>
          <a:p/>
          <a:p>
            <a:r>
              <a:t>Closing line: 'We don't need to bet now. We need to be paying attention. The signals will be unambiguous.'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is a reference layer — don't read it. Just say: 'Full three-year P&amp;L, cash flow, and segment data is here. We can come back to any line if questions arise.'</a:t>
            </a:r>
          </a:p>
          <a:p/>
          <a:p>
            <a:r>
              <a:t>Highlight one number for context if asked: Capex/OCF moved from 32% to 47% in two years — that's the ratio that summarizes everything we just discussed.</a:t>
            </a:r>
          </a:p>
          <a:p/>
          <a:p>
            <a:r>
              <a:t>Use this page to take Q&amp;A. Not to present from.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7C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457200" y="548640"/>
            <a:ext cx="11247120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6858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5B6472"/>
                </a:solidFill>
                <a:latin typeface="Calibri"/>
              </a:rPr>
              <a:t>EXECUTIVE STORYLINE  ·  FY2025 10-K  ·  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0312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4000" b="1" i="0">
                <a:solidFill>
                  <a:srgbClr val="0B2540"/>
                </a:solidFill>
                <a:latin typeface="Calibri"/>
              </a:rPr>
              <a:t>Microsoft Corporation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260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000" b="1" i="0">
                <a:solidFill>
                  <a:srgbClr val="107C41"/>
                </a:solidFill>
                <a:latin typeface="Calibri"/>
              </a:rPr>
              <a:t>MSFT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023360"/>
            <a:ext cx="112471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000" b="0" i="1">
                <a:solidFill>
                  <a:srgbClr val="1A1F2E"/>
                </a:solidFill>
                <a:latin typeface="Calibri"/>
              </a:rPr>
              <a:t>AI-driven revenue growth is strong — but heavy capex is now compressing free cash flow.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75488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 i="0">
                <a:solidFill>
                  <a:srgbClr val="5B6472"/>
                </a:solidFill>
                <a:latin typeface="Calibri"/>
              </a:rPr>
              <a:t>A five-act readout for the leadership team.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57200" y="6126480"/>
            <a:ext cx="11247120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57200" y="62636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5B6472"/>
                </a:solidFill>
                <a:latin typeface="Calibri"/>
              </a:rPr>
              <a:t>Prepared for the executive team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263640"/>
            <a:ext cx="1673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000" b="0" i="0">
                <a:solidFill>
                  <a:srgbClr val="5B6472"/>
                </a:solidFill>
                <a:latin typeface="Calibri"/>
              </a:rPr>
              <a:t>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5B6472"/>
                </a:solidFill>
                <a:latin typeface="Calibri"/>
              </a:rPr>
              <a:t>ACT I · WHAT'S HAPPENING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 i="0">
                <a:solidFill>
                  <a:srgbClr val="0B2540"/>
                </a:solidFill>
                <a:latin typeface="Calibri"/>
              </a:rPr>
              <a:t>Microsoft posted +14.9% revenue growth, lifting the topline to $281.7B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325880"/>
            <a:ext cx="11247120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554480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5B6472"/>
                </a:solidFill>
                <a:latin typeface="Calibri"/>
              </a:rPr>
              <a:t>REVENUE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01368"/>
            <a:ext cx="3657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4200" b="1" i="0">
                <a:solidFill>
                  <a:srgbClr val="0B2540"/>
                </a:solidFill>
                <a:latin typeface="Calibri"/>
              </a:rPr>
              <a:t>$281.7B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68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 i="0">
                <a:solidFill>
                  <a:srgbClr val="107C41"/>
                </a:solidFill>
                <a:latin typeface="Calibri"/>
              </a:rPr>
              <a:t>+14.9% YoY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1554480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5B6472"/>
                </a:solidFill>
                <a:latin typeface="Calibri"/>
              </a:rPr>
              <a:t>OPERATING MARGIN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1801368"/>
            <a:ext cx="3657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4200" b="1" i="0">
                <a:solidFill>
                  <a:srgbClr val="0B2540"/>
                </a:solidFill>
                <a:latin typeface="Calibri"/>
              </a:rPr>
              <a:t>45.6%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2468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 i="0">
                <a:solidFill>
                  <a:srgbClr val="107C41"/>
                </a:solidFill>
                <a:latin typeface="Calibri"/>
              </a:rPr>
              <a:t>+90 bps YoY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1554480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5B6472"/>
                </a:solidFill>
                <a:latin typeface="Calibri"/>
              </a:rPr>
              <a:t>NET MARGIN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79" y="1801368"/>
            <a:ext cx="3657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4200" b="1" i="0">
                <a:solidFill>
                  <a:srgbClr val="0B2540"/>
                </a:solidFill>
                <a:latin typeface="Calibri"/>
              </a:rPr>
              <a:t>36.1%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2468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 i="0">
                <a:solidFill>
                  <a:srgbClr val="107C41"/>
                </a:solidFill>
                <a:latin typeface="Calibri"/>
              </a:rPr>
              <a:t>+10 bps YoY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57200" y="2743200"/>
            <a:ext cx="11247120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Picture 14" descr="microsoft_revenue_mar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2926080"/>
            <a:ext cx="5760720" cy="297576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035040" y="2834640"/>
            <a:ext cx="57607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5B6472"/>
                </a:solidFill>
                <a:latin typeface="Calibri"/>
              </a:rPr>
              <a:t>REVENUE &amp; OPERATING MARGIN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288036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1" i="0">
                <a:solidFill>
                  <a:srgbClr val="5B6472"/>
                </a:solidFill>
                <a:latin typeface="Calibri"/>
              </a:rPr>
              <a:t>WHAT THE NUMBERS TELL US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319272"/>
            <a:ext cx="36576" cy="274320"/>
          </a:xfrm>
          <a:prstGeom prst="rect">
            <a:avLst/>
          </a:prstGeom>
          <a:solidFill>
            <a:srgbClr val="107C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" y="3246120"/>
            <a:ext cx="5321808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07C41"/>
                </a:solidFill>
                <a:latin typeface="Calibri"/>
              </a:rPr>
              <a:t>ACCELERATING  </a:t>
            </a:r>
            <a:r>
              <a:rPr sz="1200">
                <a:solidFill>
                  <a:srgbClr val="1A1F2E"/>
                </a:solidFill>
                <a:latin typeface="Calibri"/>
              </a:rPr>
              <a:t>Top-line growth holds in the mid-teens for the second straight year — durable, not a one-off.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187952"/>
            <a:ext cx="36576" cy="274320"/>
          </a:xfrm>
          <a:prstGeom prst="rect">
            <a:avLst/>
          </a:prstGeom>
          <a:solidFill>
            <a:srgbClr val="107C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" y="4114800"/>
            <a:ext cx="5321808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07C41"/>
                </a:solidFill>
                <a:latin typeface="Calibri"/>
              </a:rPr>
              <a:t>LEVERAGE  </a:t>
            </a:r>
            <a:r>
              <a:rPr sz="1200">
                <a:solidFill>
                  <a:srgbClr val="1A1F2E"/>
                </a:solidFill>
                <a:latin typeface="Calibri"/>
              </a:rPr>
              <a:t>Operating margin up 380 bps over two years to 45.6% — best-in-class among hyperscalers.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056632"/>
            <a:ext cx="36576" cy="274320"/>
          </a:xfrm>
          <a:prstGeom prst="rect">
            <a:avLst/>
          </a:prstGeom>
          <a:solidFill>
            <a:srgbClr val="107C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" y="4983480"/>
            <a:ext cx="5321808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07C41"/>
                </a:solidFill>
                <a:latin typeface="Calibri"/>
              </a:rPr>
              <a:t>QUALITY  </a:t>
            </a:r>
            <a:r>
              <a:rPr sz="1200">
                <a:solidFill>
                  <a:srgbClr val="1A1F2E"/>
                </a:solidFill>
                <a:latin typeface="Calibri"/>
              </a:rPr>
              <a:t>Net margin held at 36% despite stepped-up R&amp;D, signaling the franchise still scales.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57200" y="6583680"/>
            <a:ext cx="11247120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57200" y="665683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0" i="1">
                <a:solidFill>
                  <a:srgbClr val="5B6472"/>
                </a:solidFill>
                <a:latin typeface="Calibri"/>
              </a:rPr>
              <a:t>Source: Microsoft Corporation 10-K, FY2025  ·  Equity research 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0" y="6656832"/>
            <a:ext cx="16733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800" b="1" i="0">
                <a:solidFill>
                  <a:srgbClr val="5B6472"/>
                </a:solidFill>
                <a:latin typeface="Calibri"/>
              </a:rPr>
              <a:t>2 /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5B6472"/>
                </a:solidFill>
                <a:latin typeface="Calibri"/>
              </a:rPr>
              <a:t>ACT II · WHAT'S DRIVING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 i="0">
                <a:solidFill>
                  <a:srgbClr val="0B2540"/>
                </a:solidFill>
                <a:latin typeface="Calibri"/>
              </a:rPr>
              <a:t>Intelligent Cloud (+21.5%) is the single-largest growth driver — Azure alone grew +34%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325880"/>
            <a:ext cx="11247120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57200" y="1554480"/>
            <a:ext cx="5394960" cy="2103120"/>
          </a:xfrm>
          <a:prstGeom prst="rect">
            <a:avLst/>
          </a:prstGeom>
          <a:solidFill>
            <a:srgbClr val="FAFB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5029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107C41"/>
                </a:solidFill>
                <a:latin typeface="Calibri"/>
              </a:rPr>
              <a:t>AZURE GROWTH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5029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200" b="1" i="0">
                <a:solidFill>
                  <a:srgbClr val="0B2540"/>
                </a:solidFill>
                <a:latin typeface="Calibri"/>
              </a:rPr>
              <a:t>+34%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260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 i="1">
                <a:solidFill>
                  <a:srgbClr val="5B6472"/>
                </a:solidFill>
                <a:latin typeface="Calibri"/>
              </a:rPr>
              <a:t>vs +30% prior year — a 4-point reacceleration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4612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1A1F2E"/>
                </a:solidFill>
                <a:latin typeface="Calibri"/>
              </a:rPr>
              <a:t>AI-powered consumption is now a measurable workload</a:t>
            </a:r>
          </a:p>
        </p:txBody>
      </p:sp>
      <p:pic>
        <p:nvPicPr>
          <p:cNvPr id="10" name="Picture 9" descr="microsoft_seg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508760"/>
            <a:ext cx="5760720" cy="263127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35040" y="1417320"/>
            <a:ext cx="57607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5B6472"/>
                </a:solidFill>
                <a:latin typeface="Calibri"/>
              </a:rPr>
              <a:t>SEGMENT REVENUE — YoY GROWTH AND CURRENT-YEAR SCALE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096512"/>
            <a:ext cx="36576" cy="274320"/>
          </a:xfrm>
          <a:prstGeom prst="rect">
            <a:avLst/>
          </a:prstGeom>
          <a:solidFill>
            <a:srgbClr val="107C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4023360"/>
            <a:ext cx="11082528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07C41"/>
                </a:solidFill>
                <a:latin typeface="Calibri"/>
              </a:rPr>
              <a:t>SCALE  </a:t>
            </a:r>
            <a:r>
              <a:rPr sz="1200">
                <a:solidFill>
                  <a:srgbClr val="1A1F2E"/>
                </a:solidFill>
                <a:latin typeface="Calibri"/>
              </a:rPr>
              <a:t>Intelligent Cloud added $18.8B in FY25 — more than P&amp;BP and MPC combined.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736592"/>
            <a:ext cx="36576" cy="274320"/>
          </a:xfrm>
          <a:prstGeom prst="rect">
            <a:avLst/>
          </a:prstGeom>
          <a:solidFill>
            <a:srgbClr val="107C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" y="4663440"/>
            <a:ext cx="11082528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07C41"/>
                </a:solidFill>
                <a:latin typeface="Calibri"/>
              </a:rPr>
              <a:t>MIX  </a:t>
            </a:r>
            <a:r>
              <a:rPr sz="1200">
                <a:solidFill>
                  <a:srgbClr val="1A1F2E"/>
                </a:solidFill>
                <a:latin typeface="Calibri"/>
              </a:rPr>
              <a:t>Cloud is now 38% of Microsoft revenue, up from 35% the prior year.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5376672"/>
            <a:ext cx="36576" cy="274320"/>
          </a:xfrm>
          <a:prstGeom prst="rect">
            <a:avLst/>
          </a:prstGeom>
          <a:solidFill>
            <a:srgbClr val="107C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5303520"/>
            <a:ext cx="11082528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07C41"/>
                </a:solidFill>
                <a:latin typeface="Calibri"/>
              </a:rPr>
              <a:t>MOAT  </a:t>
            </a:r>
            <a:r>
              <a:rPr sz="1200">
                <a:solidFill>
                  <a:srgbClr val="1A1F2E"/>
                </a:solidFill>
                <a:latin typeface="Calibri"/>
              </a:rPr>
              <a:t>Activision integration adds $23B+ in gaming; Xbox content +16% offsets hardware decline.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57200" y="6583680"/>
            <a:ext cx="11247120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7200" y="665683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0" i="1">
                <a:solidFill>
                  <a:srgbClr val="5B6472"/>
                </a:solidFill>
                <a:latin typeface="Calibri"/>
              </a:rPr>
              <a:t>Source: Microsoft Corporation 10-K, FY2025  ·  Equity research 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0" y="6656832"/>
            <a:ext cx="16733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800" b="1" i="0">
                <a:solidFill>
                  <a:srgbClr val="5B6472"/>
                </a:solidFill>
                <a:latin typeface="Calibri"/>
              </a:rPr>
              <a:t>3 /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5B6472"/>
                </a:solidFill>
                <a:latin typeface="Calibri"/>
              </a:rPr>
              <a:t>ACT III · WHAT'S THE ISSUE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 i="0">
                <a:solidFill>
                  <a:srgbClr val="0B2540"/>
                </a:solidFill>
                <a:latin typeface="Calibri"/>
              </a:rPr>
              <a:t>Capex (+45% YoY) is now outrunning operating cash flow — FCF declined 3.3% on +14.9% revenue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325880"/>
            <a:ext cx="11247120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microsoft_capi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508760"/>
            <a:ext cx="5760720" cy="30030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35040" y="1417320"/>
            <a:ext cx="57607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5B6472"/>
                </a:solidFill>
                <a:latin typeface="Calibri"/>
              </a:rPr>
              <a:t>OPERATING CASH FLOW vs. CAPEX vs. FREE CASH FLOW ($B)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5394960" cy="1371600"/>
          </a:xfrm>
          <a:prstGeom prst="rect">
            <a:avLst/>
          </a:prstGeom>
          <a:solidFill>
            <a:srgbClr val="0B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91640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4ADE80"/>
                </a:solidFill>
                <a:latin typeface="Calibri"/>
              </a:rPr>
              <a:t>CAPEX FY25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01952"/>
            <a:ext cx="2468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4000" b="1" i="0">
                <a:solidFill>
                  <a:srgbClr val="FFFFFF"/>
                </a:solidFill>
                <a:latin typeface="Calibri"/>
              </a:rPr>
              <a:t>$64.6B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1993392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 i="0">
                <a:solidFill>
                  <a:srgbClr val="4ADE80"/>
                </a:solidFill>
                <a:latin typeface="Calibri"/>
              </a:rPr>
              <a:t>▲ +45.1% YoY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578608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vs FCF $71.6B (▼ –3.3% YoY)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01752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1" i="0">
                <a:solidFill>
                  <a:srgbClr val="5B6472"/>
                </a:solidFill>
                <a:latin typeface="Calibri"/>
              </a:rPr>
              <a:t>WHY THE NUMBERS DON'T COMPOUND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410712"/>
            <a:ext cx="36576" cy="2743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3337560"/>
            <a:ext cx="5321808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>
                <a:solidFill>
                  <a:srgbClr val="C0392B"/>
                </a:solidFill>
                <a:latin typeface="Calibri"/>
              </a:rPr>
              <a:t>STRUCTURAL  </a:t>
            </a:r>
            <a:r>
              <a:rPr sz="1150">
                <a:solidFill>
                  <a:srgbClr val="1A1F2E"/>
                </a:solidFill>
                <a:latin typeface="Calibri"/>
              </a:rPr>
              <a:t>Capex/OCF ratio jumped from 32% (FY23) to 47% (FY25) — every incremental dollar of cash is going into AI infrastructure.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325112"/>
            <a:ext cx="36576" cy="2743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" y="4251960"/>
            <a:ext cx="5321808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>
                <a:solidFill>
                  <a:srgbClr val="C0392B"/>
                </a:solidFill>
                <a:latin typeface="Calibri"/>
              </a:rPr>
              <a:t>UNUSUAL  </a:t>
            </a:r>
            <a:r>
              <a:rPr sz="1150">
                <a:solidFill>
                  <a:srgbClr val="1A1F2E"/>
                </a:solidFill>
                <a:latin typeface="Calibri"/>
              </a:rPr>
              <a:t>FCF declined for the first time in four years despite revenue growing $36.6B.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239512"/>
            <a:ext cx="36576" cy="2743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" y="5166360"/>
            <a:ext cx="5321808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>
                <a:solidFill>
                  <a:srgbClr val="C0392B"/>
                </a:solidFill>
                <a:latin typeface="Calibri"/>
              </a:rPr>
              <a:t>INTENSITY  </a:t>
            </a:r>
            <a:r>
              <a:rPr sz="1150">
                <a:solidFill>
                  <a:srgbClr val="1A1F2E"/>
                </a:solidFill>
                <a:latin typeface="Calibri"/>
              </a:rPr>
              <a:t>Capex is now 22.9% of revenue, up from 13.3% two years ago — a structural step-change.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57200" y="6583680"/>
            <a:ext cx="11247120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57200" y="665683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0" i="1">
                <a:solidFill>
                  <a:srgbClr val="5B6472"/>
                </a:solidFill>
                <a:latin typeface="Calibri"/>
              </a:rPr>
              <a:t>Source: Microsoft Corporation 10-K, FY2025  ·  Equity research 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6656832"/>
            <a:ext cx="16733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800" b="1" i="0">
                <a:solidFill>
                  <a:srgbClr val="5B6472"/>
                </a:solidFill>
                <a:latin typeface="Calibri"/>
              </a:rPr>
              <a:t>4 /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5B6472"/>
                </a:solidFill>
                <a:latin typeface="Calibri"/>
              </a:rPr>
              <a:t>ACT IV · WHY IT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 i="0">
                <a:solidFill>
                  <a:srgbClr val="0B2540"/>
                </a:solidFill>
                <a:latin typeface="Calibri"/>
              </a:rPr>
              <a:t>Sustainability hinges on Azure holding above 30% growth while capex moderates by FY27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325880"/>
            <a:ext cx="11247120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508760"/>
            <a:ext cx="11247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1" i="0">
                <a:solidFill>
                  <a:srgbClr val="5B6472"/>
                </a:solidFill>
                <a:latin typeface="Calibri"/>
              </a:rPr>
              <a:t>TWO SCENARIOS — AND WHAT TIPS US INTO EACH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74519"/>
            <a:ext cx="5440680" cy="4023360"/>
          </a:xfrm>
          <a:prstGeom prst="rect">
            <a:avLst/>
          </a:prstGeom>
          <a:solidFill>
            <a:srgbClr val="FAFB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874519"/>
            <a:ext cx="5440680" cy="548640"/>
          </a:xfrm>
          <a:prstGeom prst="rect">
            <a:avLst/>
          </a:prstGeom>
          <a:solidFill>
            <a:srgbClr val="107C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874519"/>
            <a:ext cx="54406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BASE CASE  ·  AZURE HOLDS, CAPEX PEAKS FY26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59"/>
            <a:ext cx="5120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107C41"/>
                </a:solidFill>
                <a:latin typeface="Calibri"/>
              </a:rPr>
              <a:t>FCF INFLECTION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880359"/>
            <a:ext cx="51206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1A1F2E"/>
                </a:solidFill>
                <a:latin typeface="Calibri"/>
              </a:rPr>
              <a:t>FCF re-accelerates to $90–100B by FY27 as capex moderates to 18% of revenue.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428999"/>
            <a:ext cx="5120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107C41"/>
                </a:solidFill>
                <a:latin typeface="Calibri"/>
              </a:rPr>
              <a:t>MARGIN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657599"/>
            <a:ext cx="51206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1A1F2E"/>
                </a:solidFill>
                <a:latin typeface="Calibri"/>
              </a:rPr>
              <a:t>Operating margin holds 45–47% on Cloud mix and SaaS leverage.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206239"/>
            <a:ext cx="5120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107C41"/>
                </a:solidFill>
                <a:latin typeface="Calibri"/>
              </a:rPr>
              <a:t>MULTIPLE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434839"/>
            <a:ext cx="51206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1A1F2E"/>
                </a:solidFill>
                <a:latin typeface="Calibri"/>
              </a:rPr>
              <a:t>Re-rating to 32× forward earnings as AI ROIC compounds visibly.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1874519"/>
            <a:ext cx="5440680" cy="4023360"/>
          </a:xfrm>
          <a:prstGeom prst="rect">
            <a:avLst/>
          </a:prstGeom>
          <a:solidFill>
            <a:srgbClr val="FAFB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1874519"/>
            <a:ext cx="5440680" cy="5486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874519"/>
            <a:ext cx="54406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BEAR CASE  ·  AZURE DECELERATES, CAPEX STAYS HOT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651759"/>
            <a:ext cx="5120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C0392B"/>
                </a:solidFill>
                <a:latin typeface="Calibri"/>
              </a:rPr>
              <a:t>FCF SQUEEZE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880359"/>
            <a:ext cx="51206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1A1F2E"/>
                </a:solidFill>
                <a:latin typeface="Calibri"/>
              </a:rPr>
              <a:t>FCF could turn negative on a TTM basis if Azure dips below 25% while capex stays &gt;$60B.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3428999"/>
            <a:ext cx="5120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C0392B"/>
                </a:solidFill>
                <a:latin typeface="Calibri"/>
              </a:rPr>
              <a:t>MARGIN REVERSAL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3657599"/>
            <a:ext cx="51206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1A1F2E"/>
                </a:solidFill>
                <a:latin typeface="Calibri"/>
              </a:rPr>
              <a:t>Depreciation step-up alone would compress operating margin 200–300 bps.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4206239"/>
            <a:ext cx="5120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C0392B"/>
                </a:solidFill>
                <a:latin typeface="Calibri"/>
              </a:rPr>
              <a:t>DE-RATING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4434839"/>
            <a:ext cx="51206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1A1F2E"/>
                </a:solidFill>
                <a:latin typeface="Calibri"/>
              </a:rPr>
              <a:t>Compression to 22–24× forward earnings as the AI-payback narrative breaks.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989320"/>
            <a:ext cx="11247120" cy="457200"/>
          </a:xfrm>
          <a:prstGeom prst="rect">
            <a:avLst/>
          </a:prstGeom>
          <a:solidFill>
            <a:srgbClr val="0B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598932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4ADE80"/>
                </a:solidFill>
                <a:latin typeface="Calibri"/>
              </a:rPr>
              <a:t>THE CRITICAL VARIABLE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77440" y="598932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Whether AI workloads can monetize at the rate capex is being deployed — by FY27, not later.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457200" y="6583680"/>
            <a:ext cx="11247120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457200" y="665683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0" i="1">
                <a:solidFill>
                  <a:srgbClr val="5B6472"/>
                </a:solidFill>
                <a:latin typeface="Calibri"/>
              </a:rPr>
              <a:t>Source: Microsoft Corporation 10-K, FY2025  ·  Equity research view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0" y="6656832"/>
            <a:ext cx="16733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800" b="1" i="0">
                <a:solidFill>
                  <a:srgbClr val="5B6472"/>
                </a:solidFill>
                <a:latin typeface="Calibri"/>
              </a:rPr>
              <a:t>5 /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5B6472"/>
                </a:solidFill>
                <a:latin typeface="Calibri"/>
              </a:rPr>
              <a:t>ACT V · BOTTOM 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 i="0">
                <a:solidFill>
                  <a:srgbClr val="0B2540"/>
                </a:solidFill>
                <a:latin typeface="Calibri"/>
              </a:rPr>
              <a:t>Track three metrics that will tell us — within 12 months — which scenario is unfolding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325880"/>
            <a:ext cx="11247120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508760"/>
            <a:ext cx="11247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1" i="0">
                <a:solidFill>
                  <a:srgbClr val="5B6472"/>
                </a:solidFill>
                <a:latin typeface="Calibri"/>
              </a:rPr>
              <a:t>THE THREE-METRIC EARLY-WARNING DASHBOARD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74519"/>
            <a:ext cx="777240" cy="1325880"/>
          </a:xfrm>
          <a:prstGeom prst="rect">
            <a:avLst/>
          </a:prstGeom>
          <a:solidFill>
            <a:srgbClr val="0B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874519"/>
            <a:ext cx="777240" cy="1325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36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0160" y="1874519"/>
            <a:ext cx="10424160" cy="1325880"/>
          </a:xfrm>
          <a:prstGeom prst="rect">
            <a:avLst/>
          </a:prstGeom>
          <a:solidFill>
            <a:srgbClr val="FAFB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08760" y="2011679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0B2540"/>
                </a:solidFill>
                <a:latin typeface="Calibri"/>
              </a:rPr>
              <a:t>Azure constant-currency growth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377439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1">
                <a:solidFill>
                  <a:srgbClr val="5B6472"/>
                </a:solidFill>
                <a:latin typeface="Calibri"/>
              </a:rPr>
              <a:t>Watch for &gt;30% — anything below 25% breaks the AI-monetization thesis.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834639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 i="0">
                <a:solidFill>
                  <a:srgbClr val="107C41"/>
                </a:solidFill>
                <a:latin typeface="Calibri"/>
              </a:rPr>
              <a:t>QUARTERLY · CLOUD &amp; AI SEGMENT RELEASE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337559"/>
            <a:ext cx="777240" cy="1325880"/>
          </a:xfrm>
          <a:prstGeom prst="rect">
            <a:avLst/>
          </a:prstGeom>
          <a:solidFill>
            <a:srgbClr val="0B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337559"/>
            <a:ext cx="777240" cy="1325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36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80160" y="3337559"/>
            <a:ext cx="10424160" cy="1325880"/>
          </a:xfrm>
          <a:prstGeom prst="rect">
            <a:avLst/>
          </a:prstGeom>
          <a:solidFill>
            <a:srgbClr val="FAFB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08760" y="3474719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0B2540"/>
                </a:solidFill>
                <a:latin typeface="Calibri"/>
              </a:rPr>
              <a:t>Capex/OCF ratio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840479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1">
                <a:solidFill>
                  <a:srgbClr val="5B6472"/>
                </a:solidFill>
                <a:latin typeface="Calibri"/>
              </a:rPr>
              <a:t>Should peak by FY26 and trend below 40% in FY27. Above 50% = structural risk.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4297679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 i="0">
                <a:solidFill>
                  <a:srgbClr val="107C41"/>
                </a:solidFill>
                <a:latin typeface="Calibri"/>
              </a:rPr>
              <a:t>MONTHLY · TREASURY CASH FORECAST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800599"/>
            <a:ext cx="777240" cy="1325880"/>
          </a:xfrm>
          <a:prstGeom prst="rect">
            <a:avLst/>
          </a:prstGeom>
          <a:solidFill>
            <a:srgbClr val="0B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800599"/>
            <a:ext cx="777240" cy="1325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36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80160" y="4800599"/>
            <a:ext cx="10424160" cy="1325880"/>
          </a:xfrm>
          <a:prstGeom prst="rect">
            <a:avLst/>
          </a:prstGeom>
          <a:solidFill>
            <a:srgbClr val="FAFB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508760" y="4937759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0B2540"/>
                </a:solidFill>
                <a:latin typeface="Calibri"/>
              </a:rPr>
              <a:t>AI revenue disclosure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5303519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1">
                <a:solidFill>
                  <a:srgbClr val="5B6472"/>
                </a:solidFill>
                <a:latin typeface="Calibri"/>
              </a:rPr>
              <a:t>Look for explicit Copilot, Azure AI, and Foundry revenue lines — opacity is itself a signal.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5760719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 i="0">
                <a:solidFill>
                  <a:srgbClr val="107C41"/>
                </a:solidFill>
                <a:latin typeface="Calibri"/>
              </a:rPr>
              <a:t>QUARTERLY · EARNINGS CALL COMMENTARY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989320"/>
            <a:ext cx="11247120" cy="457200"/>
          </a:xfrm>
          <a:prstGeom prst="rect">
            <a:avLst/>
          </a:prstGeom>
          <a:solidFill>
            <a:srgbClr val="107C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598932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RECOMMENDATION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5989320"/>
            <a:ext cx="87782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Stay constructive on the franchise; gate further conviction on Q2 capex/Azure data.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457200" y="6583680"/>
            <a:ext cx="11247120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457200" y="665683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0" i="1">
                <a:solidFill>
                  <a:srgbClr val="5B6472"/>
                </a:solidFill>
                <a:latin typeface="Calibri"/>
              </a:rPr>
              <a:t>Source: Microsoft Corporation 10-K, FY2025  ·  Equity research view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0" y="6656832"/>
            <a:ext cx="16733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800" b="1" i="0">
                <a:solidFill>
                  <a:srgbClr val="5B6472"/>
                </a:solidFill>
                <a:latin typeface="Calibri"/>
              </a:rPr>
              <a:t>6 /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5B6472"/>
                </a:solidFill>
                <a:latin typeface="Calibri"/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 i="0">
                <a:solidFill>
                  <a:srgbClr val="0B2540"/>
                </a:solidFill>
                <a:latin typeface="Calibri"/>
              </a:rPr>
              <a:t>Three-year P&amp;L, segment, and cash-flow reference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325880"/>
            <a:ext cx="11247120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554480"/>
            <a:ext cx="3520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1" i="0">
                <a:solidFill>
                  <a:srgbClr val="5B6472"/>
                </a:solidFill>
                <a:latin typeface="Calibri"/>
              </a:rPr>
              <a:t>INCOME STATEMENT  ·  $B EXCEPT %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828800"/>
            <a:ext cx="3520440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920240" y="192024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1" i="0">
                <a:solidFill>
                  <a:srgbClr val="5B6472"/>
                </a:solidFill>
                <a:latin typeface="Calibri"/>
              </a:rPr>
              <a:t>FY23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06040" y="192024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1" i="0">
                <a:solidFill>
                  <a:srgbClr val="5B6472"/>
                </a:solidFill>
                <a:latin typeface="Calibri"/>
              </a:rPr>
              <a:t>FY24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192024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1" i="0">
                <a:solidFill>
                  <a:srgbClr val="5B6472"/>
                </a:solidFill>
                <a:latin typeface="Calibri"/>
              </a:rPr>
              <a:t>FY25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19456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1A1F2E"/>
                </a:solidFill>
                <a:latin typeface="Calibri"/>
              </a:rPr>
              <a:t>Revenue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219456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0" i="0">
                <a:solidFill>
                  <a:srgbClr val="0B2540"/>
                </a:solidFill>
                <a:latin typeface="Calibri"/>
              </a:rPr>
              <a:t>$211.9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06040" y="219456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0" i="0">
                <a:solidFill>
                  <a:srgbClr val="0B2540"/>
                </a:solidFill>
                <a:latin typeface="Calibri"/>
              </a:rPr>
              <a:t>$245.1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219456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1" i="0">
                <a:solidFill>
                  <a:srgbClr val="0B2540"/>
                </a:solidFill>
                <a:latin typeface="Calibri"/>
              </a:rPr>
              <a:t>$281.7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46888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1A1F2E"/>
                </a:solidFill>
                <a:latin typeface="Calibri"/>
              </a:rPr>
              <a:t>Gross profit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246888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0" i="0">
                <a:solidFill>
                  <a:srgbClr val="0B2540"/>
                </a:solidFill>
                <a:latin typeface="Calibri"/>
              </a:rPr>
              <a:t>$146.1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06040" y="246888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0" i="0">
                <a:solidFill>
                  <a:srgbClr val="0B2540"/>
                </a:solidFill>
                <a:latin typeface="Calibri"/>
              </a:rPr>
              <a:t>$171.0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246888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1" i="0">
                <a:solidFill>
                  <a:srgbClr val="0B2540"/>
                </a:solidFill>
                <a:latin typeface="Calibri"/>
              </a:rPr>
              <a:t>$193.9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74320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1A1F2E"/>
                </a:solidFill>
                <a:latin typeface="Calibri"/>
              </a:rPr>
              <a:t>Operating income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274320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0" i="0">
                <a:solidFill>
                  <a:srgbClr val="0B2540"/>
                </a:solidFill>
                <a:latin typeface="Calibri"/>
              </a:rPr>
              <a:t>$88.5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06040" y="274320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0" i="0">
                <a:solidFill>
                  <a:srgbClr val="0B2540"/>
                </a:solidFill>
                <a:latin typeface="Calibri"/>
              </a:rPr>
              <a:t>$109.4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91840" y="274320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1" i="0">
                <a:solidFill>
                  <a:srgbClr val="0B2540"/>
                </a:solidFill>
                <a:latin typeface="Calibri"/>
              </a:rPr>
              <a:t>$128.5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01752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1A1F2E"/>
                </a:solidFill>
                <a:latin typeface="Calibri"/>
              </a:rPr>
              <a:t>Net income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20240" y="3017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0" i="0">
                <a:solidFill>
                  <a:srgbClr val="0B2540"/>
                </a:solidFill>
                <a:latin typeface="Calibri"/>
              </a:rPr>
              <a:t>$72.4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06040" y="3017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0" i="0">
                <a:solidFill>
                  <a:srgbClr val="0B2540"/>
                </a:solidFill>
                <a:latin typeface="Calibri"/>
              </a:rPr>
              <a:t>$88.1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91840" y="3017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1" i="0">
                <a:solidFill>
                  <a:srgbClr val="0B2540"/>
                </a:solidFill>
                <a:latin typeface="Calibri"/>
              </a:rPr>
              <a:t>$101.8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329184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1A1F2E"/>
                </a:solidFill>
                <a:latin typeface="Calibri"/>
              </a:rPr>
              <a:t>R&amp;D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20240" y="329184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0" i="0">
                <a:solidFill>
                  <a:srgbClr val="0B2540"/>
                </a:solidFill>
                <a:latin typeface="Calibri"/>
              </a:rPr>
              <a:t>$27.2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06040" y="329184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0" i="0">
                <a:solidFill>
                  <a:srgbClr val="0B2540"/>
                </a:solidFill>
                <a:latin typeface="Calibri"/>
              </a:rPr>
              <a:t>$29.5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91840" y="329184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1" i="0">
                <a:solidFill>
                  <a:srgbClr val="0B2540"/>
                </a:solidFill>
                <a:latin typeface="Calibri"/>
              </a:rPr>
              <a:t>$32.5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356616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1A1F2E"/>
                </a:solidFill>
                <a:latin typeface="Calibri"/>
              </a:rPr>
              <a:t>Gross margin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20240" y="356616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0" i="0">
                <a:solidFill>
                  <a:srgbClr val="0B2540"/>
                </a:solidFill>
                <a:latin typeface="Calibri"/>
              </a:rPr>
              <a:t>68.8%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06040" y="356616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0" i="0">
                <a:solidFill>
                  <a:srgbClr val="0B2540"/>
                </a:solidFill>
                <a:latin typeface="Calibri"/>
              </a:rPr>
              <a:t>69.8%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91840" y="356616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1" i="0">
                <a:solidFill>
                  <a:srgbClr val="0B2540"/>
                </a:solidFill>
                <a:latin typeface="Calibri"/>
              </a:rPr>
              <a:t>68.9%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384048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1A1F2E"/>
                </a:solidFill>
                <a:latin typeface="Calibri"/>
              </a:rPr>
              <a:t>Operating margin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20240" y="384048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0" i="0">
                <a:solidFill>
                  <a:srgbClr val="0B2540"/>
                </a:solidFill>
                <a:latin typeface="Calibri"/>
              </a:rPr>
              <a:t>41.8%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606040" y="384048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0" i="0">
                <a:solidFill>
                  <a:srgbClr val="0B2540"/>
                </a:solidFill>
                <a:latin typeface="Calibri"/>
              </a:rPr>
              <a:t>44.7%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91840" y="384048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1" i="0">
                <a:solidFill>
                  <a:srgbClr val="0B2540"/>
                </a:solidFill>
                <a:latin typeface="Calibri"/>
              </a:rPr>
              <a:t>45.6%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411480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1A1F2E"/>
                </a:solidFill>
                <a:latin typeface="Calibri"/>
              </a:rPr>
              <a:t>Net margin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20240" y="411480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0" i="0">
                <a:solidFill>
                  <a:srgbClr val="0B2540"/>
                </a:solidFill>
                <a:latin typeface="Calibri"/>
              </a:rPr>
              <a:t>34.1%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606040" y="411480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0" i="0">
                <a:solidFill>
                  <a:srgbClr val="0B2540"/>
                </a:solidFill>
                <a:latin typeface="Calibri"/>
              </a:rPr>
              <a:t>36.0%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91840" y="411480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1" i="0">
                <a:solidFill>
                  <a:srgbClr val="0B2540"/>
                </a:solidFill>
                <a:latin typeface="Calibri"/>
              </a:rPr>
              <a:t>36.1%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89120" y="1554480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1" i="0">
                <a:solidFill>
                  <a:srgbClr val="5B6472"/>
                </a:solidFill>
                <a:latin typeface="Calibri"/>
              </a:rPr>
              <a:t>CASH FLOW  ·  $B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4389120" y="1828800"/>
            <a:ext cx="3474720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5943600" y="192024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1" i="0">
                <a:solidFill>
                  <a:srgbClr val="5B6472"/>
                </a:solidFill>
                <a:latin typeface="Calibri"/>
              </a:rPr>
              <a:t>FY23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0" y="192024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1" i="0">
                <a:solidFill>
                  <a:srgbClr val="5B6472"/>
                </a:solidFill>
                <a:latin typeface="Calibri"/>
              </a:rPr>
              <a:t>FY24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23760" y="192024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1" i="0">
                <a:solidFill>
                  <a:srgbClr val="5B6472"/>
                </a:solidFill>
                <a:latin typeface="Calibri"/>
              </a:rPr>
              <a:t>FY25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89120" y="219456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1A1F2E"/>
                </a:solidFill>
                <a:latin typeface="Calibri"/>
              </a:rPr>
              <a:t>Operating cash flow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943600" y="219456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0" i="0">
                <a:solidFill>
                  <a:srgbClr val="0B2540"/>
                </a:solidFill>
                <a:latin typeface="Calibri"/>
              </a:rPr>
              <a:t>$87.6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83680" y="219456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0" i="0">
                <a:solidFill>
                  <a:srgbClr val="0B2540"/>
                </a:solidFill>
                <a:latin typeface="Calibri"/>
              </a:rPr>
              <a:t>$118.5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223760" y="219456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1" i="0">
                <a:solidFill>
                  <a:srgbClr val="0B2540"/>
                </a:solidFill>
                <a:latin typeface="Calibri"/>
              </a:rPr>
              <a:t>$136.2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389120" y="246888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1A1F2E"/>
                </a:solidFill>
                <a:latin typeface="Calibri"/>
              </a:rPr>
              <a:t>Capex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943600" y="246888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0" i="0">
                <a:solidFill>
                  <a:srgbClr val="0B2540"/>
                </a:solidFill>
                <a:latin typeface="Calibri"/>
              </a:rPr>
              <a:t>$28.1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583680" y="246888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0" i="0">
                <a:solidFill>
                  <a:srgbClr val="0B2540"/>
                </a:solidFill>
                <a:latin typeface="Calibri"/>
              </a:rPr>
              <a:t>$44.5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23760" y="246888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1" i="0">
                <a:solidFill>
                  <a:srgbClr val="0B2540"/>
                </a:solidFill>
                <a:latin typeface="Calibri"/>
              </a:rPr>
              <a:t>$64.6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389120" y="274320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1A1F2E"/>
                </a:solidFill>
                <a:latin typeface="Calibri"/>
              </a:rPr>
              <a:t>Free cash flow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943600" y="274320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0" i="0">
                <a:solidFill>
                  <a:srgbClr val="0B2540"/>
                </a:solidFill>
                <a:latin typeface="Calibri"/>
              </a:rPr>
              <a:t>$59.5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583680" y="274320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0" i="0">
                <a:solidFill>
                  <a:srgbClr val="0B2540"/>
                </a:solidFill>
                <a:latin typeface="Calibri"/>
              </a:rPr>
              <a:t>$74.1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223760" y="274320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1" i="0">
                <a:solidFill>
                  <a:srgbClr val="0B2540"/>
                </a:solidFill>
                <a:latin typeface="Calibri"/>
              </a:rPr>
              <a:t>$71.6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389120" y="301752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1A1F2E"/>
                </a:solidFill>
                <a:latin typeface="Calibri"/>
              </a:rPr>
              <a:t>SBC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943600" y="301752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0" i="0">
                <a:solidFill>
                  <a:srgbClr val="0B2540"/>
                </a:solidFill>
                <a:latin typeface="Calibri"/>
              </a:rPr>
              <a:t>$9.6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583680" y="301752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0" i="0">
                <a:solidFill>
                  <a:srgbClr val="0B2540"/>
                </a:solidFill>
                <a:latin typeface="Calibri"/>
              </a:rPr>
              <a:t>$10.7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223760" y="301752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1" i="0">
                <a:solidFill>
                  <a:srgbClr val="0B2540"/>
                </a:solidFill>
                <a:latin typeface="Calibri"/>
              </a:rPr>
              <a:t>$12.0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389120" y="329184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1A1F2E"/>
                </a:solidFill>
                <a:latin typeface="Calibri"/>
              </a:rPr>
              <a:t>D&amp;A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943600" y="329184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0" i="0">
                <a:solidFill>
                  <a:srgbClr val="0B2540"/>
                </a:solidFill>
                <a:latin typeface="Calibri"/>
              </a:rPr>
              <a:t>$13.9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583680" y="329184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0" i="0">
                <a:solidFill>
                  <a:srgbClr val="0B2540"/>
                </a:solidFill>
                <a:latin typeface="Calibri"/>
              </a:rPr>
              <a:t>$22.3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223760" y="329184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1" i="0">
                <a:solidFill>
                  <a:srgbClr val="0B2540"/>
                </a:solidFill>
                <a:latin typeface="Calibri"/>
              </a:rPr>
              <a:t>$34.2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389120" y="356616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1A1F2E"/>
                </a:solidFill>
                <a:latin typeface="Calibri"/>
              </a:rPr>
              <a:t>Buybacks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943600" y="356616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0" i="0">
                <a:solidFill>
                  <a:srgbClr val="0B2540"/>
                </a:solidFill>
                <a:latin typeface="Calibri"/>
              </a:rPr>
              <a:t>$22.2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583680" y="356616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0" i="0">
                <a:solidFill>
                  <a:srgbClr val="0B2540"/>
                </a:solidFill>
                <a:latin typeface="Calibri"/>
              </a:rPr>
              <a:t>$12.0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223760" y="356616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1" i="0">
                <a:solidFill>
                  <a:srgbClr val="0B2540"/>
                </a:solidFill>
                <a:latin typeface="Calibri"/>
              </a:rPr>
              <a:t>$13.0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389120" y="384048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1A1F2E"/>
                </a:solidFill>
                <a:latin typeface="Calibri"/>
              </a:rPr>
              <a:t>Dividends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943600" y="384048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0" i="0">
                <a:solidFill>
                  <a:srgbClr val="0B2540"/>
                </a:solidFill>
                <a:latin typeface="Calibri"/>
              </a:rPr>
              <a:t>$19.8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583680" y="384048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0" i="0">
                <a:solidFill>
                  <a:srgbClr val="0B2540"/>
                </a:solidFill>
                <a:latin typeface="Calibri"/>
              </a:rPr>
              <a:t>$21.8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223760" y="384048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1" i="0">
                <a:solidFill>
                  <a:srgbClr val="0B2540"/>
                </a:solidFill>
                <a:latin typeface="Calibri"/>
              </a:rPr>
              <a:t>$24.1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389120" y="411480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1A1F2E"/>
                </a:solidFill>
                <a:latin typeface="Calibri"/>
              </a:rPr>
              <a:t>Capex/OCF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943600" y="411480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0" i="0">
                <a:solidFill>
                  <a:srgbClr val="0B2540"/>
                </a:solidFill>
                <a:latin typeface="Calibri"/>
              </a:rPr>
              <a:t>32%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583680" y="411480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0" i="0">
                <a:solidFill>
                  <a:srgbClr val="0B2540"/>
                </a:solidFill>
                <a:latin typeface="Calibri"/>
              </a:rPr>
              <a:t>37%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411480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1" i="0">
                <a:solidFill>
                  <a:srgbClr val="0B2540"/>
                </a:solidFill>
                <a:latin typeface="Calibri"/>
              </a:rPr>
              <a:t>47%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321040" y="1554480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1" i="0">
                <a:solidFill>
                  <a:srgbClr val="5B6472"/>
                </a:solidFill>
                <a:latin typeface="Calibri"/>
              </a:rPr>
              <a:t>SEGMENTS  ·  FY25 REVENUE</a:t>
            </a:r>
          </a:p>
        </p:txBody>
      </p:sp>
      <p:cxnSp>
        <p:nvCxnSpPr>
          <p:cNvPr id="80" name="Connector 79"/>
          <p:cNvCxnSpPr/>
          <p:nvPr/>
        </p:nvCxnSpPr>
        <p:spPr>
          <a:xfrm>
            <a:off x="8321040" y="1828800"/>
            <a:ext cx="3474720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>
            <a:off x="10149840" y="192024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1" i="0">
                <a:solidFill>
                  <a:srgbClr val="5B6472"/>
                </a:solidFill>
                <a:latin typeface="Calibri"/>
              </a:rPr>
              <a:t>FY25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98480" y="192024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1" i="0">
                <a:solidFill>
                  <a:srgbClr val="5B6472"/>
                </a:solidFill>
                <a:latin typeface="Calibri"/>
              </a:rPr>
              <a:t>YoY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1247120" y="192024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1" i="0">
                <a:solidFill>
                  <a:srgbClr val="5B6472"/>
                </a:solidFill>
                <a:latin typeface="Calibri"/>
              </a:rPr>
              <a:t>OM%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321040" y="219456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1A1F2E"/>
                </a:solidFill>
                <a:latin typeface="Calibri"/>
              </a:rPr>
              <a:t>Productivity &amp; Business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0149840" y="219456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0" i="0">
                <a:solidFill>
                  <a:srgbClr val="0B2540"/>
                </a:solidFill>
                <a:latin typeface="Calibri"/>
              </a:rPr>
              <a:t>$120.8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0698480" y="219456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0" i="0">
                <a:solidFill>
                  <a:srgbClr val="0B2540"/>
                </a:solidFill>
                <a:latin typeface="Calibri"/>
              </a:rPr>
              <a:t>+13.0%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1247120" y="219456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1" i="0">
                <a:solidFill>
                  <a:srgbClr val="0B2540"/>
                </a:solidFill>
                <a:latin typeface="Calibri"/>
              </a:rPr>
              <a:t>57.8%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321040" y="24688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1A1F2E"/>
                </a:solidFill>
                <a:latin typeface="Calibri"/>
              </a:rPr>
              <a:t>Intelligent Cloud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149840" y="246888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0" i="0">
                <a:solidFill>
                  <a:srgbClr val="0B2540"/>
                </a:solidFill>
                <a:latin typeface="Calibri"/>
              </a:rPr>
              <a:t>$106.3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0698480" y="246888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0" i="0">
                <a:solidFill>
                  <a:srgbClr val="0B2540"/>
                </a:solidFill>
                <a:latin typeface="Calibri"/>
              </a:rPr>
              <a:t>+21.5%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1247120" y="246888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1" i="0">
                <a:solidFill>
                  <a:srgbClr val="0B2540"/>
                </a:solidFill>
                <a:latin typeface="Calibri"/>
              </a:rPr>
              <a:t>41.9%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321040" y="27432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1A1F2E"/>
                </a:solidFill>
                <a:latin typeface="Calibri"/>
              </a:rPr>
              <a:t>More Personal Computing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0149840" y="274320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0" i="0">
                <a:solidFill>
                  <a:srgbClr val="0B2540"/>
                </a:solidFill>
                <a:latin typeface="Calibri"/>
              </a:rPr>
              <a:t>$54.6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0698480" y="274320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0" i="0">
                <a:solidFill>
                  <a:srgbClr val="0B2540"/>
                </a:solidFill>
                <a:latin typeface="Calibri"/>
              </a:rPr>
              <a:t>+7.5%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1247120" y="274320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1" i="0">
                <a:solidFill>
                  <a:srgbClr val="0B2540"/>
                </a:solidFill>
                <a:latin typeface="Calibri"/>
              </a:rPr>
              <a:t>25.9%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321040" y="3246120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1" i="0">
                <a:solidFill>
                  <a:srgbClr val="5B6472"/>
                </a:solidFill>
                <a:latin typeface="Calibri"/>
              </a:rPr>
              <a:t>CAPEX INTENSITY  ·  CAPEX/REVENUE %</a:t>
            </a:r>
          </a:p>
        </p:txBody>
      </p:sp>
      <p:cxnSp>
        <p:nvCxnSpPr>
          <p:cNvPr id="97" name="Connector 96"/>
          <p:cNvCxnSpPr/>
          <p:nvPr/>
        </p:nvCxnSpPr>
        <p:spPr>
          <a:xfrm>
            <a:off x="8321040" y="3520440"/>
            <a:ext cx="3474720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8" name="Picture 97" descr="microsoft_capex_intens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3611880"/>
            <a:ext cx="3474720" cy="1926620"/>
          </a:xfrm>
          <a:prstGeom prst="rect">
            <a:avLst/>
          </a:prstGeom>
        </p:spPr>
      </p:pic>
      <p:cxnSp>
        <p:nvCxnSpPr>
          <p:cNvPr id="99" name="Connector 98"/>
          <p:cNvCxnSpPr/>
          <p:nvPr/>
        </p:nvCxnSpPr>
        <p:spPr>
          <a:xfrm>
            <a:off x="457200" y="6583680"/>
            <a:ext cx="11247120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TextBox 99"/>
          <p:cNvSpPr txBox="1"/>
          <p:nvPr/>
        </p:nvSpPr>
        <p:spPr>
          <a:xfrm>
            <a:off x="457200" y="665683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0" i="1">
                <a:solidFill>
                  <a:srgbClr val="5B6472"/>
                </a:solidFill>
                <a:latin typeface="Calibri"/>
              </a:rPr>
              <a:t>Source: Microsoft Corporation 10-K, FY2025  ·  Equity research view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0058400" y="6656832"/>
            <a:ext cx="16733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800" b="1" i="0">
                <a:solidFill>
                  <a:srgbClr val="5B6472"/>
                </a:solidFill>
                <a:latin typeface="Calibri"/>
              </a:rPr>
              <a:t>7 /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