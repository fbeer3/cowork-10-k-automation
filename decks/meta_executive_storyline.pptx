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Headline: Meta is having one of its best operating years ever — and FCF still went down. That contradiction is the deck.</a:t>
            </a:r>
          </a:p>
          <a:p/>
          <a:p>
            <a:r>
              <a:t>Frame: five questions. What's happening, what's driving it, what's the issue, why it matters, what to track.</a:t>
            </a:r>
          </a:p>
          <a:p/>
          <a:p>
            <a:r>
              <a:t>Tone: clear-eyed. The bull case on Meta is strong. The bear case is real. We're going to draw both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numbers: $201B revenue (+22%), op margin 41%, net margin 30%.</a:t>
            </a:r>
          </a:p>
          <a:p/>
          <a:p>
            <a:r>
              <a:t>Note the asymmetry: top-line is best-in-class, but margins are flat-to-down. That's the AI capex showing up.</a:t>
            </a:r>
          </a:p>
          <a:p/>
          <a:p>
            <a:r>
              <a:t>Closing: 'Meta is the rare case where the income statement and the cash flow statement tell different stories. We need to read both.'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FoA at 51.6% operating margin is the most under-told stat in tech. Pause on it.</a:t>
            </a:r>
          </a:p>
          <a:p/>
          <a:p>
            <a:r>
              <a:t>Then pivot hard: Reality Labs lost $19B on $2.2B revenue. That's a 870% operating loss margin. Sit with that for a moment.</a:t>
            </a:r>
          </a:p>
          <a:p/>
          <a:p>
            <a:r>
              <a:t>Land: 'Two segments. One is the most profitable advertising business in history. The other is among the worst-margin businesses in any industry. The deck is about whether the first can carry the second.'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Turning point. Capex jumped from $37B to $70B — that's bigger than Meta's entire R&amp;D budget two years ago.</a:t>
            </a:r>
          </a:p>
          <a:p/>
          <a:p>
            <a:r>
              <a:t>FCF declined despite revenue +$36B. Where did the cash go? PP&amp;E for AI infrastructure.</a:t>
            </a:r>
          </a:p>
          <a:p/>
          <a:p>
            <a:r>
              <a:t>Don't editorialize on RL — but be clear: at $19B/year, it's a structural cost line, not an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as fork in the road. FoA is the variable; RL is the constraint.</a:t>
            </a:r>
          </a:p>
          <a:p/>
          <a:p>
            <a:r>
              <a:t>Base case: FoA holds 18%+, RL caps at $20B, capex peaks 2025 → FCF rebuilds.</a:t>
            </a:r>
          </a:p>
          <a:p/>
          <a:p>
            <a:r>
              <a:t>Bear case: FoA decelerates AND RL widens AND capex stays elevated → multiple compresses fast.</a:t>
            </a:r>
          </a:p>
          <a:p/>
          <a:p>
            <a:r>
              <a:t>Critical variable: AI engagement → ad revenue conversion.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recommendation: constructive, gated.</a:t>
            </a:r>
          </a:p>
          <a:p/>
          <a:p>
            <a:r>
              <a:t>Three metrics. FoA growth, RL loss, capex/FoA ratio. Make it operational.</a:t>
            </a:r>
          </a:p>
          <a:p/>
          <a:p>
            <a:r>
              <a:t>Closing: 'Meta is the highest-upside name in this peer group — and the highest-tail-risk. The next four quarters resolve which one wins.'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Reference. Don't read it.</a:t>
            </a:r>
          </a:p>
          <a:p/>
          <a:p>
            <a:r>
              <a:t>One stat for Q&amp;A: Reality Labs cumulative loss is approaching $60B. That's the number that defines the strategic question.</a:t>
            </a:r>
          </a:p>
          <a:p/>
          <a:p>
            <a:r>
              <a:t>Capex intensity chart on the right: 13% → 19% → 35% in three years. Hold it up if challenged on whether the issue is structural.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7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57200" y="54864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685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EXECUTIVE STORYLINE  ·  FY2024 10-K  · 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0B2540"/>
                </a:solidFill>
                <a:latin typeface="Calibri"/>
              </a:rPr>
              <a:t>Meta Platforms, Inc.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 i="0">
                <a:solidFill>
                  <a:srgbClr val="1877F2"/>
                </a:solidFill>
                <a:latin typeface="Calibri"/>
              </a:rPr>
              <a:t>META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 i="1">
                <a:solidFill>
                  <a:srgbClr val="1A1F2E"/>
                </a:solidFill>
                <a:latin typeface="Calibri"/>
              </a:rPr>
              <a:t>Ad business is humming — but Reality Labs lost $19B and AI capex is up 87%, compressing FCF.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5B6472"/>
                </a:solidFill>
                <a:latin typeface="Calibri"/>
              </a:rPr>
              <a:t>A five-act readout for the leadership team.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61264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Prepared for the executive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263640"/>
            <a:ext cx="1673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5B6472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 · WHAT'S HAPPENING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Meta posted +22.1% revenue growth — best top-line in three years, but FCF declined 16%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$201.0B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1877F2"/>
                </a:solidFill>
                <a:latin typeface="Calibri"/>
              </a:rPr>
              <a:t>+22.1% YoY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OPERATING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41.4%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–80 bps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554480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NET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013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200" b="1" i="0">
                <a:solidFill>
                  <a:srgbClr val="0B2540"/>
                </a:solidFill>
                <a:latin typeface="Calibri"/>
              </a:rPr>
              <a:t>30.1%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468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–780 bps YoY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74320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meta_revenue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926080"/>
            <a:ext cx="5760720" cy="29757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283464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REVENUE &amp; OPERATING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WHAT THE NUMBERS TELL 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19272"/>
            <a:ext cx="36576" cy="274320"/>
          </a:xfrm>
          <a:prstGeom prst="rect">
            <a:avLst/>
          </a:prstGeom>
          <a:solidFill>
            <a:srgbClr val="187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24612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877F2"/>
                </a:solidFill>
                <a:latin typeface="Calibri"/>
              </a:rPr>
              <a:t>ACCELERATING  </a:t>
            </a:r>
            <a:r>
              <a:rPr sz="1200">
                <a:solidFill>
                  <a:srgbClr val="1A1F2E"/>
                </a:solidFill>
                <a:latin typeface="Calibri"/>
              </a:rPr>
              <a:t>+22% growth is the fastest since FY21 — AI-recommended content is driving real engagement.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8795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1480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LEVERAGE-LIMITED  </a:t>
            </a:r>
            <a:r>
              <a:rPr sz="1200">
                <a:solidFill>
                  <a:srgbClr val="1A1F2E"/>
                </a:solidFill>
                <a:latin typeface="Calibri"/>
              </a:rPr>
              <a:t>Operating margin DECLINED slightly — 41% is still elite, but Reality Labs + AI capex are starting to weigh.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5663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983480"/>
            <a:ext cx="5321808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QUALITY-WATCH  </a:t>
            </a:r>
            <a:r>
              <a:rPr sz="1200">
                <a:solidFill>
                  <a:srgbClr val="1A1F2E"/>
                </a:solidFill>
                <a:latin typeface="Calibri"/>
              </a:rPr>
              <a:t>Net margin compressed 780 bps as RL losses and tax rate normalize — earnings quality is the open question.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Meta Platforms, Inc. 10-K, FY2024  ·  Equity research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II · WHAT'S DRIVING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Family of Apps (+18%) is the entire profit engine — Reality Labs lost $19B at –870% margin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57200" y="1554480"/>
            <a:ext cx="5394960" cy="210312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877F2"/>
                </a:solidFill>
                <a:latin typeface="Calibri"/>
              </a:rPr>
              <a:t>FAMILY OF APPS REVENUE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200" b="1" i="0">
                <a:solidFill>
                  <a:srgbClr val="0B2540"/>
                </a:solidFill>
                <a:latin typeface="Calibri"/>
              </a:rPr>
              <a:t>+18%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1">
                <a:solidFill>
                  <a:srgbClr val="5B6472"/>
                </a:solidFill>
                <a:latin typeface="Calibri"/>
              </a:rPr>
              <a:t>Operating margin 51.6% — highest in company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1A1F2E"/>
                </a:solidFill>
                <a:latin typeface="Calibri"/>
              </a:rPr>
              <a:t>AI-driven recommendation system is the underlying lever</a:t>
            </a:r>
          </a:p>
        </p:txBody>
      </p:sp>
      <p:pic>
        <p:nvPicPr>
          <p:cNvPr id="10" name="Picture 9" descr="meta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760720" cy="25070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35040" y="141732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SEGMENT REVENUE — YoY GROWTH AND CURRENT-YEAR SCALE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96512"/>
            <a:ext cx="36576" cy="274320"/>
          </a:xfrm>
          <a:prstGeom prst="rect">
            <a:avLst/>
          </a:prstGeom>
          <a:solidFill>
            <a:srgbClr val="187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402336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877F2"/>
                </a:solidFill>
                <a:latin typeface="Calibri"/>
              </a:rPr>
              <a:t>ENGINE  </a:t>
            </a:r>
            <a:r>
              <a:rPr sz="1200">
                <a:solidFill>
                  <a:srgbClr val="1A1F2E"/>
                </a:solidFill>
                <a:latin typeface="Calibri"/>
              </a:rPr>
              <a:t>FoA generated $102B in operating profit — a profitability inflection driven by AI ranking + ads efficiency.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36592"/>
            <a:ext cx="36576" cy="274320"/>
          </a:xfrm>
          <a:prstGeom prst="rect">
            <a:avLst/>
          </a:prstGeom>
          <a:solidFill>
            <a:srgbClr val="187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66344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877F2"/>
                </a:solidFill>
                <a:latin typeface="Calibri"/>
              </a:rPr>
              <a:t>AI-WORKING  </a:t>
            </a:r>
            <a:r>
              <a:rPr sz="1200">
                <a:solidFill>
                  <a:srgbClr val="1A1F2E"/>
                </a:solidFill>
                <a:latin typeface="Calibri"/>
              </a:rPr>
              <a:t>Engagement up across Reels + Threads; advertiser ROI improving without CPM compression.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37667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5303520"/>
            <a:ext cx="1108252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C0392B"/>
                </a:solidFill>
                <a:latin typeface="Calibri"/>
              </a:rPr>
              <a:t>RL-DRAG  </a:t>
            </a:r>
            <a:r>
              <a:rPr sz="1200">
                <a:solidFill>
                  <a:srgbClr val="1A1F2E"/>
                </a:solidFill>
                <a:latin typeface="Calibri"/>
              </a:rPr>
              <a:t>Reality Labs lost $19B on $2B revenue — cumulative ~$60B since 2020 with no margin path in sight.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Meta Platforms, Inc. 10-K, FY2024  ·  Equity research 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III · WHAT'S THE 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Capex (+87% YoY) is doubling on AI infrastructure — FCF declined 16% despite +22% revenue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eta_cap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08760"/>
            <a:ext cx="5760720" cy="3003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417320"/>
            <a:ext cx="5760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5B6472"/>
                </a:solidFill>
                <a:latin typeface="Calibri"/>
              </a:rPr>
              <a:t>OPERATING CASH FLOW vs. CAPEX vs. FREE CASH FLOW ($B)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94960" cy="137160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CAPEX FY24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$69.7B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9339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ADE80"/>
                </a:solidFill>
                <a:latin typeface="Calibri"/>
              </a:rPr>
              <a:t>▲ +87.1% YoY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vs FCF $43.6B (▼ –16.4% YoY)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WHY THE CASH STORY HAS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07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3375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AI-CAPEX  </a:t>
            </a:r>
            <a:r>
              <a:rPr sz="1150">
                <a:solidFill>
                  <a:srgbClr val="1A1F2E"/>
                </a:solidFill>
                <a:latin typeface="Calibri"/>
              </a:rPr>
              <a:t>Capex jumped from $37B to $70B in one year — bigger than total Reality Labs revenue history.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251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2519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RL-COST  </a:t>
            </a:r>
            <a:r>
              <a:rPr sz="1150">
                <a:solidFill>
                  <a:srgbClr val="1A1F2E"/>
                </a:solidFill>
                <a:latin typeface="Calibri"/>
              </a:rPr>
              <a:t>Reality Labs operating loss of $19B is structural — capped revenue, growing R&amp;D, no clear monetization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39512"/>
            <a:ext cx="36576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166360"/>
            <a:ext cx="532180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C0392B"/>
                </a:solidFill>
                <a:latin typeface="Calibri"/>
              </a:rPr>
              <a:t>FCF-COMPRESS  </a:t>
            </a:r>
            <a:r>
              <a:rPr sz="1150">
                <a:solidFill>
                  <a:srgbClr val="1A1F2E"/>
                </a:solidFill>
                <a:latin typeface="Calibri"/>
              </a:rPr>
              <a:t>FCF dropped from $52B to $44B even as revenue grew $36B — every dollar of growth went to infrastructure.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Meta Platforms, Inc. 10-K, FY2024  ·  Equity research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IV ·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Sustainability hinges on FoA holding 18%+ growth while RL losses cap and AI capex peaks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TWO SCENARIOS — AND WHAT TIPS US INTO EACH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5440680" cy="40233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5440680" cy="548640"/>
          </a:xfrm>
          <a:prstGeom prst="rect">
            <a:avLst/>
          </a:prstGeom>
          <a:solidFill>
            <a:srgbClr val="187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BASE CASE  ·  FoA HOLDS, AI ROIC EMERGES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877F2"/>
                </a:solidFill>
                <a:latin typeface="Calibri"/>
              </a:rPr>
              <a:t>FCF REBUILD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FCF re-accelerates to $60–75B by FY26 as capex moderates and AI features monetize.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899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877F2"/>
                </a:solidFill>
                <a:latin typeface="Calibri"/>
              </a:rPr>
              <a:t>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59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Op margin holds 41–43% on FoA mix; RL contained at –$20B/year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1877F2"/>
                </a:solidFill>
                <a:latin typeface="Calibri"/>
              </a:rPr>
              <a:t>MULTIPLE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3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Re-rating to 25–28× as AI commerce + ads ROI compounds visibly.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74519"/>
            <a:ext cx="5440680" cy="402336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74519"/>
            <a:ext cx="5440680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440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BEAR CASE  ·  FoA DECELERATES, RL WIDENS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5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FCF SQUEEZE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5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FCF compressed below $30B if FoA dips below 12% while capex stays &gt;$80B.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899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MARGIN REVERSAL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5759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Depreciation step-up + RL widening could push op margin toward 35%.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06239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C0392B"/>
                </a:solidFill>
                <a:latin typeface="Calibri"/>
              </a:rPr>
              <a:t>DE-RATING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39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A1F2E"/>
                </a:solidFill>
                <a:latin typeface="Calibri"/>
              </a:rPr>
              <a:t>Multiple compression to 18–20× as the AI-payback narrative breaks.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4ADE80"/>
                </a:solidFill>
                <a:latin typeface="Calibri"/>
              </a:rPr>
              <a:t>THE CRITICAL VARIABLE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989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Whether AI-driven engagement gains translate into ad revenue at the rate capex is being deployed.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Meta Platforms, Inc. 10-K, FY2024  ·  Equity research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ACT V ·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Track three metrics that will tell us — within 12 months — which scenario is unfolding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0876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THE THREE-METRIC EARLY-WARNING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7451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87451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01167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Family of Apps revenue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7743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Watch for &gt;18% — anything below 12% would meaningfully break the AI engagement thesis.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3463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877F2"/>
                </a:solidFill>
                <a:latin typeface="Calibri"/>
              </a:rPr>
              <a:t>QUARTERLY · FOA SEGMENT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5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33755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33755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8760" y="34747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Reality Labs operating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4047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Should cap at –$20B/year by FY26. Widening above –$25B = strategic-cost spiral.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9767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877F2"/>
                </a:solidFill>
                <a:latin typeface="Calibri"/>
              </a:rPr>
              <a:t>QUARTERLY · RL SEGMENT DISCLOSURE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599"/>
            <a:ext cx="777240" cy="1325880"/>
          </a:xfrm>
          <a:prstGeom prst="rect">
            <a:avLst/>
          </a:prstGeom>
          <a:solidFill>
            <a:srgbClr val="0B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599"/>
            <a:ext cx="77724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80160" y="4800599"/>
            <a:ext cx="10424160" cy="1325880"/>
          </a:xfrm>
          <a:prstGeom prst="rect">
            <a:avLst/>
          </a:prstGeom>
          <a:solidFill>
            <a:srgbClr val="FAFB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08760" y="493775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0"/>
                </a:solidFill>
                <a:latin typeface="Calibri"/>
              </a:rPr>
              <a:t>Capex/FoA-revenue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30351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1">
                <a:solidFill>
                  <a:srgbClr val="5B6472"/>
                </a:solidFill>
                <a:latin typeface="Calibri"/>
              </a:rPr>
              <a:t>Should peak by FY25 and trend below 30% in FY26. Above 40% = structural cash strain.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5760719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1877F2"/>
                </a:solidFill>
                <a:latin typeface="Calibri"/>
              </a:rPr>
              <a:t>QUARTERLY · CFO COMMENTARY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187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989320"/>
            <a:ext cx="8778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Constructive on FoA; gate further conviction on Q2 RL containment and AI capex moderation.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Meta Platforms, Inc. 10-K, FY2024  ·  Equity research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5B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0"/>
                </a:solidFill>
                <a:latin typeface="Calibri"/>
              </a:rPr>
              <a:t>Three-year P&amp;L, segment, and cash-flow reference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471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554480"/>
            <a:ext cx="3520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INCOME STATEMENT  ·  $B EXCEPT 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828800"/>
            <a:ext cx="352044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$134.9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$164.5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945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$201.0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Gross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$108.9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$134.3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688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$164.8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income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$46.8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$69.4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7432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$83.3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Net income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$39.1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60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$62.4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0175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$60.5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91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R&amp;D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$38.5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$43.9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2918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$57.4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Gross margin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80.7%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81.7%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5661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82.0%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84048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margin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34.6%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060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42.2%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8404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41.4%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Net margin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29.0%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37.9%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30.1%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15544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CASH FLOW  ·  $B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389120" y="182880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94360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23760" y="19202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21945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Operating cash 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$71.1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$91.3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21945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$115.8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89120" y="24688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Capex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4360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$27.0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$37.3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24688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$69.7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27432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Free cash flow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$43.0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$52.1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27432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$43.6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30175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SBC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$14.0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$16.7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23760" y="3017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$20.4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89120" y="32918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D&amp;A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$11.2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$15.5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329184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$18.6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35661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Buybacks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4360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$19.8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$29.8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23760" y="356616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$26.2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8912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Dividends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$0.0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$5.1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23760" y="384048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$5.3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20" y="41148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Capex/OCF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94360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38%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41%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411480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60%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321040" y="155448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SEGMENTS  ·  FY24 REVENUE &amp; MARGIN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321040" y="182880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14984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FY24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9848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YoY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247120" y="19202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1" i="0">
                <a:solidFill>
                  <a:srgbClr val="5B6472"/>
                </a:solidFill>
                <a:latin typeface="Calibri"/>
              </a:rPr>
              <a:t>OM%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321040" y="21945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Family of Apps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14984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$198.8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69848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+18.0%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247120" y="21945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51.6%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21040" y="2468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Reality Labs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4984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$2.2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9848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+2.8%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47120" y="2468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–870%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21040" y="27432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 i="0">
                <a:solidFill>
                  <a:srgbClr val="1A1F2E"/>
                </a:solidFill>
                <a:latin typeface="Calibri"/>
              </a:rPr>
              <a:t>Total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984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$201.0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9848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0" i="0">
                <a:solidFill>
                  <a:srgbClr val="0B2540"/>
                </a:solidFill>
                <a:latin typeface="Calibri"/>
              </a:rPr>
              <a:t>+22.1%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1247120" y="27432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 i="0">
                <a:solidFill>
                  <a:srgbClr val="0B2540"/>
                </a:solidFill>
                <a:latin typeface="Calibri"/>
              </a:rPr>
              <a:t>41.4%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321040" y="3246120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5B6472"/>
                </a:solidFill>
                <a:latin typeface="Calibri"/>
              </a:rPr>
              <a:t>CAPEX INTENSITY  ·  CAPEX/REVENUE %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321040" y="3520440"/>
            <a:ext cx="347472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8" name="Picture 97" descr="meta_capex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11880"/>
            <a:ext cx="3474720" cy="1928981"/>
          </a:xfrm>
          <a:prstGeom prst="rect">
            <a:avLst/>
          </a:prstGeom>
        </p:spPr>
      </p:pic>
      <p:cxnSp>
        <p:nvCxnSpPr>
          <p:cNvPr id="99" name="Connector 98"/>
          <p:cNvCxnSpPr/>
          <p:nvPr/>
        </p:nvCxnSpPr>
        <p:spPr>
          <a:xfrm>
            <a:off x="457200" y="6583680"/>
            <a:ext cx="1124712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457200" y="665683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5B6472"/>
                </a:solidFill>
                <a:latin typeface="Calibri"/>
              </a:rPr>
              <a:t>Source: Meta Platforms, Inc. 10-K, FY2024  ·  Equity research view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400" y="6656832"/>
            <a:ext cx="16733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1" i="0">
                <a:solidFill>
                  <a:srgbClr val="5B6472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